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1E40AF"/>
                </a:solidFill>
                <a:latin typeface="Space Grotesk"/>
              </a:defRPr>
            </a:pPr>
            <a:r>
              <a:t>PLOT PLANNER PRO</a:t>
            </a:r>
          </a:p>
          <a:p>
            <a:pPr>
              <a:spcBef>
                <a:spcPts val="1400"/>
              </a:spcBef>
              <a:defRPr sz="2200">
                <a:solidFill>
                  <a:srgbClr val="3B82F6"/>
                </a:solidFill>
                <a:latin typeface="Outfit"/>
              </a:defRPr>
            </a:pPr>
            <a:r>
              <a:t>2D Drafting, Irregular Plot Math Engine &amp; Microclimate Simulator</a:t>
            </a:r>
          </a:p>
          <a:p>
            <a:pPr>
              <a:spcBef>
                <a:spcPts val="4000"/>
              </a:spcBef>
              <a:defRPr sz="1400">
                <a:solidFill>
                  <a:srgbClr val="0F172A"/>
                </a:solidFill>
                <a:latin typeface="Outfit"/>
              </a:defRPr>
            </a:pPr>
            <a:r>
              <a:t>A Unified Local Host CAD &amp; Environmental Zoning Application for Pakistan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Space Grotesk"/>
              </a:defRPr>
            </a:pPr>
            <a:r>
              <a:t>Core Drafting &amp; Math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High-DPI Grid Snapping Canvas: </a:t>
            </a:r>
            <a:r>
              <a:rPr b="0" sz="1600"/>
              <a:t>Architectural coordinate grid supporting live dimension markers in feet, meters, and yards.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Irregular Plot Math Engine: </a:t>
            </a:r>
            <a:r>
              <a:rPr b="0" sz="1600"/>
              <a:t>Triangulation via Heron's Formula for precise area calculation when Diagonal E is provided.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Average Method Fallback: </a:t>
            </a:r>
            <a:r>
              <a:rPr b="0" sz="1600"/>
              <a:t>Calculates Average Width x Average Length automatically when no diagonal is entered, warning the user of potential inaccuracies.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Karachi Yard (Sq Yds) Support: </a:t>
            </a:r>
            <a:r>
              <a:rPr b="0" sz="1600"/>
              <a:t>Fully integrates Karachi Yard unit option for measuring borders and calculating footprint area in square yards.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Pakistani Land Unit Converter: </a:t>
            </a:r>
            <a:r>
              <a:rPr b="0" sz="1600"/>
              <a:t>Converts area to Kanal, Marla, and Sarsahi dynamically based on Lahore (225 sq ft), Rural (272.25 sq ft), or Commercial (250 sq ft)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Space Grotesk"/>
              </a:defRPr>
            </a:pPr>
            <a:r>
              <a:t>Regulatory Setback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Multi-City Guidelines Support: </a:t>
            </a:r>
            <a:r>
              <a:rPr b="0" sz="1600"/>
              <a:t>Incorporates municipal regulations for LDA (Lahore), CDA (Islamabad), RUDA (Ravi Urban), SBCA (Karachi), PDA (Peshawar), and QDA (Quetta).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Automated Setback Offsets: </a:t>
            </a:r>
            <a:r>
              <a:rPr b="0" sz="1600"/>
              <a:t>Draws dashed compliance lines on the canvas based on plot size (e.g. 5ft front for 3-5 Marla; front/rear setbacks for larger plots).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Ventilation &amp; Basement Validation: </a:t>
            </a:r>
            <a:r>
              <a:rPr b="0" sz="1600"/>
              <a:t>Checks CDA ventilation setbacks (minimum 5ft rear required) and triggers warning badges for basements.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Surrounding Environmental Context: </a:t>
            </a:r>
            <a:r>
              <a:rPr b="0" sz="1600"/>
              <a:t>Renders access road widths, neighboring structures, and soil badges directly on the workspace.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Space Grotesk"/>
              </a:defRPr>
            </a:pPr>
            <a:r>
              <a:t>Microclimate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Solar Path &amp; Shadow Arc: </a:t>
            </a:r>
            <a:r>
              <a:rPr b="0" sz="1600"/>
              <a:t>Simulates transit path of the sun. Shifts shadow angles and lengths dynamically based on the Time of Day slider.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Seasonal Wind Vectors: </a:t>
            </a:r>
            <a:r>
              <a:rPr b="0" sz="1600"/>
              <a:t>Draws animated vector arrows flowing Southwest in Summer and Northeast in Winter based on Pakistani seasonal models.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Sound Decibel Gradient: </a:t>
            </a:r>
            <a:r>
              <a:rPr b="0" sz="1600"/>
              <a:t>Renders a road-to-rear linear gradient (Red to Green) inside the plot boundaries representing street noise propagation.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Passive Design Advice: </a:t>
            </a:r>
            <a:r>
              <a:rPr b="0" sz="1600"/>
              <a:t>Orientation-aware tip engine advising on louvers, overhangs, and window sizes based on plot frontage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Space Grotesk"/>
              </a:defRPr>
            </a:pPr>
            <a:r>
              <a:t>Cost Estimator &amp;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Automated Bill of Quantities (BOM): </a:t>
            </a:r>
            <a:r>
              <a:rPr b="0" sz="1600"/>
              <a:t>Estimates quantities for Bricks, Cement, Sand, and Tiles based on drafted wall length and computed footprint area.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Market Pricing Customization: </a:t>
            </a:r>
            <a:r>
              <a:rPr b="0" sz="1600"/>
              <a:t>Allows real-time edits to unit rates (e.g., Cement bag, Sand CFT) with instant total updates in PKR.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Role-Based Approvals: </a:t>
            </a:r>
            <a:r>
              <a:rPr b="0" sz="1600"/>
              <a:t>Simulates multi-disciplinary collaboration (Owner, Architect, Engineer, Client) via profile-switching and comments log.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Cloud Exporter: </a:t>
            </a:r>
            <a:r>
              <a:rPr b="0" sz="1600"/>
              <a:t>One-click export of canvas vectors, setbacks, rates, and collaboration logs into a clean JSON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40AF"/>
                </a:solidFill>
                <a:latin typeface="Space Grotesk"/>
              </a:defRPr>
            </a:pPr>
            <a:r>
              <a:t>3D WebGL &amp; Floor Plan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Procedural 2D/3D Floor Plan Generator: </a:t>
            </a:r>
            <a:r>
              <a:rPr b="0" sz="1600"/>
              <a:t>Automatically splits layouts for Ground, 1st, and 2nd floors based on room checklist counts, corridor settings, and custom dimensions.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Interactive 2D Blueprint Poche Walls: </a:t>
            </a:r>
            <a:r>
              <a:rPr b="0" sz="1600"/>
              <a:t>Renders 9" external and 4.5" inner partition walls with solid poche fill, doors, windows, scale bars, and a North compass.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Drag-and-Drop Room Re-arranger: </a:t>
            </a:r>
            <a:r>
              <a:rPr b="0" sz="1600"/>
              <a:t>Enables users to manually click, hold, and drag generated room boxes in 2D to customize layouts dynamically.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Orbit &amp; WASD Walkthrough Viewport: </a:t>
            </a:r>
            <a:r>
              <a:rPr b="0" sz="1600"/>
              <a:t>Runs interactive WebGL orbit or keyboard walk-through modes with neighboring grey blocks, utility cylinders, and roof toggles.</a:t>
            </a:r>
          </a:p>
          <a:p>
            <a:pPr>
              <a:spcAft>
                <a:spcPts val="1400"/>
              </a:spcAft>
              <a:defRPr b="1" sz="1800">
                <a:solidFill>
                  <a:srgbClr val="0F172A"/>
                </a:solidFill>
              </a:defRPr>
            </a:pPr>
            <a:r>
              <a:t>• Multi-Format Importer &amp; Tracing Underlay: </a:t>
            </a:r>
            <a:r>
              <a:rPr b="0" sz="1600"/>
              <a:t>Imports SVG/DXF vector paths, STL/OBJ 3D models, JSON backups, and drag-and-drop PNG/JPG tracing maps with scale &amp; opacity.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